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Waste-to-Energy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3545"/>
                </a:solidFill>
              </a:defRPr>
            </a:pPr>
            <a:r>
              <a:t>2024-2025 Market Intelligence &amp; APCD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GLOBAL MARKET: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2,869 active WtE plants | 576 MT/year capacity | 20+ year average 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OPPORTUNITY: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7.2B - 16.2B EUR TAM for APCD retrofits (10 years)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Peak upgrade cycle: 2024-2035 (aging asset replacement wave)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GMAB FOCUS: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Primary: Europe (regulatory-driven, premium pricing)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Secondary: Asia (aging fleet + emerging regulation)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Highest Priority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540 plants | 109 MT/year capacity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 URGENCY: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EU Industrial Emissions Directive (IED) + BAT Conclusions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Legal limit: 0.1 ng I-TEQ/Nm3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BAT target: 0.05 ng I-TEQ/Nm3 (stricter)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Enforcement: ACTIVE - 5M+ EUR penalties per violation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Top 3 Key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GERMANY (98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20+ years old | 98 LEADS for retrofits 2024-2030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FRANCE (131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50-70 leads for upgrades + new projects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UK (64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Newer fleet, high profitability = capital available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20-30 leads for advanced APCD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Investment &amp; Payback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TYPICAL APCD SYSTEM (200,000 t/y plant):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ACI + Baghouse + Temperature Control + CEM +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Total investment: 10-14M EUR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ROI: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Payback period: 1.5-3 years (compliance-driven)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Compliance cost avoided: 2-5M EUR per violation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Energy bonus: 3-6M EUR/year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Sales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PRIMARY MESSAGE: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'Achieve BAT 0.05 ng I-TEQ/Nm3'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'Avoid 5M+ EUR penalties, maintain operational permits'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TARGET DECISION MAKERS: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Environmental/HSE Director (compliance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Plant Manager (operations)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CFO (budget/ROI)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ASIA: Rapid Growth, Emerging Regulation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2,224 plants (78% of global total)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438 MT/year capacity (76% of global)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 STATUS: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Weak enforcement TODAY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Tightening: China 2025+, SE Asia emerging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OPPORTUNITY: Early-mover advantage (5-10 years)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BEFORE regulation enforcement makes retrofits mandatory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ASIA: Market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JAPAN (1,000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Oldest fleet globally (25-30 years old)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MASSIVE aging asset replacement cycle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CHINA (916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Standards tightening 2025+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Retrofit market LARGER than new construction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SE ASIA (Vietnam, Thailand, Indonesia):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Rapid growth (200+ projects in pipeline)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NORTH AMERICA: Selective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86 plants (only 3% of global total)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USA: 71 plants | Canada: 15 plants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CHARACTERISTICS: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Mature, consolidating market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Premium positioning required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REGULATORY: EPA enforcement tightening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Global Market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TOP 10 MARKETS: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1. Japan (1,000) | 2. China (916) | 3. South Korea (233)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4. France (131) | 5. Germany (98) | 6. USA (71)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7. UK (64) | 8. Italy (37) | 9. Sweden (36) | 10. Switzerland (29)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REGIONAL TOTALS: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Europe: 540 plants (19%)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Asia: 2,224 plants (78%)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5 Key Market Growth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1. LANDFILL RESTRICTIONS: Urbanization + land scarcity = more incineration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2. AGING ASSET CYCLE (2024-2035): 2,869 plants at 20+ years = replacement wave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3. REGULATORY TIGHTENING: EU BAT 0.05, China 2025+, EPA enforcement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4. ENERGY ECONOMICS: Carbon credits + green energy improving ROI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Landscape: Flue Gas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TRADITIONAL SYSTEMS (pre-2010):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Basic baghouses, NO dioxin control, memory effect unaddressed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MODERN APCD SYSTEMS (2010+):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Activated Carbon Injection (ACI)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Advanced baghouses + temperature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I-TEQ/TEQ continuous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Heat recovery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GMAB Competitive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DIOXIN-FIRST APPROACH: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De novo synthesis prevention (200-400C zone control)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Memory effect mitigation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INTEGRATED SOLUTIONS: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APCD + heat recovery (not just energy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REGIONAL EXPERTISE: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EU BAT compliance knowledge (rare skillset)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ESTABLISHED SUPPLIERS: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Babcock &amp; Wilcox, Metso, SPX Flow (deep relationships)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CHINESE VENDORS: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Lower-cost systems, aggressive Asia pricing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Less focus on advanced dioxin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GMAB DIFFERENTIATION: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Position dioxin control as PRIMARY value driver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Total Addressable Market (TAM)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CONSERVATIVE ESTIMATE: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600-900 plants need APCD retrofits in mature markets (10 yrs)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12-18M EUR per APCD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TAM: 7.2B - 16.2B EUR (dioxin control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 SHARE: ~300-400 plants = 3.6-7.2B EUR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ENERGY RECOVERY UPSIDE: 2-4B EUR additional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Phased Market Entry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1 (Q1-Q2 2025): EUROPE FOCUS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Germany retrofit cycle | France capacity upgrades | UK advanced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2 (Q3-Q4 2025): ASIA EMERGENCE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Japan aging asset positioning | China regulation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3 (2026+): SE ASIA EARLY-MOVER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Vietnam, Thailand, Indonesia growth markets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Customized Value Propositions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 (PRIMARY):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'Achieve BAT 0.05 ng I-TEQ/Nm3, avoid 5M+ EUR penalties'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ASIA (EMERGING):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'Prepare for tightening regulation, differentiate with advanced dioxin control'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N. AMERICA (SELECTIVE):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'Stay ahead of EPA enforcement, maximize energy recovery ROI'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IMMEDIATE (Q1): Lead generation focus on Europe (Germany, France, UK)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SHORT-TERM (Q2): Sales messaging + competitive intelligence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MEDIUM-TERM (Q3-Q4): Asia market positioning (Japan, China)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ONGOING: SE Asia growth market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3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7-16B EUR Opportunity</a:t>
            </a:r>
          </a:p>
          <a:p>
            <a:pPr algn="ctr">
              <a:spcBef>
                <a:spcPts val="2000"/>
              </a:spcBef>
              <a:defRPr sz="4000">
                <a:solidFill>
                  <a:srgbClr val="FFFFFF"/>
                </a:solidFill>
              </a:defRPr>
            </a:pPr>
            <a:r>
              <a:t>2024-2035 Peak Upgrade Cycle</a:t>
            </a:r>
          </a:p>
          <a:p>
            <a:pPr algn="ctr">
              <a:spcBef>
                <a:spcPts val="3000"/>
              </a:spcBef>
              <a:defRPr sz="1800" b="1">
                <a:solidFill>
                  <a:srgbClr val="FFFFFF"/>
                </a:solidFill>
              </a:defRPr>
            </a:pPr>
            <a:r>
              <a:t>PHASE 1: EUROPE (highest urgency + premium pricing)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PHASE 2-3: Asia + N. America (growth + early-mover advantage)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059A7A-FABD-4F01-B0A4-FEFBF3F66E4D}">
  <we:reference id="wa200010001" version="1.0.0.0" store="sv-SE" storeType="OMEX"/>
  <we:alternateReferences>
    <we:reference id="WA200010001" version="1.0.0.0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1073</Words>
  <Application>Microsoft Office PowerPoint</Application>
  <PresentationFormat>Bildspel på skärmen (4:3)</PresentationFormat>
  <Paragraphs>166</Paragraphs>
  <Slides>19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Greisz, Staffan</cp:lastModifiedBy>
  <cp:revision>2</cp:revision>
  <dcterms:created xsi:type="dcterms:W3CDTF">2013-01-27T09:14:16Z</dcterms:created>
  <dcterms:modified xsi:type="dcterms:W3CDTF">2026-02-19T18:54:45Z</dcterms:modified>
  <cp:category/>
</cp:coreProperties>
</file>